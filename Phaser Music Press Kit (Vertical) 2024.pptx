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Lst>
  <p:sldSz cy="10058400" cx="7772400"/>
  <p:notesSz cx="10058400" cy="7772400"/>
  <p:embeddedFontLst>
    <p:embeddedFont>
      <p:font typeface="Lato"/>
      <p:regular r:id="rId9"/>
      <p:bold r:id="rId10"/>
      <p:italic r:id="rId11"/>
      <p:boldItalic r:id="rId12"/>
    </p:embeddedFont>
    <p:embeddedFont>
      <p:font typeface="Lato Hairline"/>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NJoA7uowx1mKy8E9JDyboGjHT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Lato-italic.fntdata"/><Relationship Id="rId10" Type="http://schemas.openxmlformats.org/officeDocument/2006/relationships/font" Target="fonts/Lato-bold.fntdata"/><Relationship Id="rId13" Type="http://schemas.openxmlformats.org/officeDocument/2006/relationships/font" Target="fonts/LatoHairline-regular.fntdata"/><Relationship Id="rId12"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Lato-regular.fntdata"/><Relationship Id="rId15" Type="http://schemas.openxmlformats.org/officeDocument/2006/relationships/font" Target="fonts/LatoHairline-italic.fntdata"/><Relationship Id="rId14" Type="http://schemas.openxmlformats.org/officeDocument/2006/relationships/font" Target="fonts/LatoHairline-bold.fntdata"/><Relationship Id="rId17" Type="http://customschemas.google.com/relationships/presentationmetadata" Target="metadata"/><Relationship Id="rId16" Type="http://schemas.openxmlformats.org/officeDocument/2006/relationships/font" Target="fonts/LatoHairline-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21a270159a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g21a270159a4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g21a270159a4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 name="Google Shape;2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 name="Google Shape;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 name="Google Shape;5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hyperlink" Target="https://www.youtube.com/@PhaserOfficial" TargetMode="External"/><Relationship Id="rId11" Type="http://schemas.openxmlformats.org/officeDocument/2006/relationships/image" Target="../media/image16.jpg"/><Relationship Id="rId10" Type="http://schemas.openxmlformats.org/officeDocument/2006/relationships/hyperlink" Target="http://www.youtube.com/watch?v=vSZshpQPH_4" TargetMode="External"/><Relationship Id="rId12" Type="http://schemas.openxmlformats.org/officeDocument/2006/relationships/image" Target="../media/image9.png"/><Relationship Id="rId9"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hyperlink" Target="https://www.facebook.com/PhaserOfficial" TargetMode="External"/><Relationship Id="rId7" Type="http://schemas.openxmlformats.org/officeDocument/2006/relationships/image" Target="../media/image10.png"/><Relationship Id="rId8" Type="http://schemas.openxmlformats.org/officeDocument/2006/relationships/hyperlink" Target="https://www.instagram.com/wearephas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hyperlink" Target="http://www.youtube.com/watch?v=y2RWGWV6QxE" TargetMode="External"/><Relationship Id="rId11" Type="http://schemas.openxmlformats.org/officeDocument/2006/relationships/hyperlink" Target="http://www.youtube.com/watch?v=Ny6ooTWjikc" TargetMode="External"/><Relationship Id="rId10" Type="http://schemas.openxmlformats.org/officeDocument/2006/relationships/image" Target="../media/image3.jpg"/><Relationship Id="rId12" Type="http://schemas.openxmlformats.org/officeDocument/2006/relationships/image" Target="../media/image12.jpg"/><Relationship Id="rId9" Type="http://schemas.openxmlformats.org/officeDocument/2006/relationships/hyperlink" Target="http://www.youtube.com/watch?v=p-zGeSHCgtI" TargetMode="External"/><Relationship Id="rId5" Type="http://schemas.openxmlformats.org/officeDocument/2006/relationships/image" Target="../media/image6.jpg"/><Relationship Id="rId6" Type="http://schemas.openxmlformats.org/officeDocument/2006/relationships/hyperlink" Target="http://www.youtube.com/watch?v=bZHemoPx5-U" TargetMode="External"/><Relationship Id="rId7" Type="http://schemas.openxmlformats.org/officeDocument/2006/relationships/image" Target="../media/image18.jp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hyperlink" Target="http://www.youtube.com/watch?v=YziyWYnfdAI" TargetMode="External"/><Relationship Id="rId11" Type="http://schemas.openxmlformats.org/officeDocument/2006/relationships/hyperlink" Target="http://www.youtube.com/watch?v=Xp0BdET8a3Q" TargetMode="External"/><Relationship Id="rId10" Type="http://schemas.openxmlformats.org/officeDocument/2006/relationships/image" Target="../media/image9.png"/><Relationship Id="rId12" Type="http://schemas.openxmlformats.org/officeDocument/2006/relationships/image" Target="../media/image15.jpg"/><Relationship Id="rId9"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hyperlink" Target="http://www.youtube.com/watch?v=qeuzs0wtA3w" TargetMode="External"/><Relationship Id="rId7" Type="http://schemas.openxmlformats.org/officeDocument/2006/relationships/image" Target="../media/image5.jpg"/><Relationship Id="rId8" Type="http://schemas.openxmlformats.org/officeDocument/2006/relationships/hyperlink" Target="http://www.youtube.com/watch?v=J4taSlJXlO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id="16" name="Google Shape;16;g21a270159a4_0_0"/>
          <p:cNvPicPr preferRelativeResize="0"/>
          <p:nvPr/>
        </p:nvPicPr>
        <p:blipFill rotWithShape="1">
          <a:blip r:embed="rId3">
            <a:alphaModFix/>
          </a:blip>
          <a:srcRect b="0" l="0" r="0" t="0"/>
          <a:stretch/>
        </p:blipFill>
        <p:spPr>
          <a:xfrm>
            <a:off x="152400" y="152400"/>
            <a:ext cx="7467600" cy="9663952"/>
          </a:xfrm>
          <a:prstGeom prst="rect">
            <a:avLst/>
          </a:prstGeom>
          <a:noFill/>
          <a:ln>
            <a:noFill/>
          </a:ln>
        </p:spPr>
      </p:pic>
      <p:sp>
        <p:nvSpPr>
          <p:cNvPr id="17" name="Google Shape;17;g21a270159a4_0_0"/>
          <p:cNvSpPr txBox="1"/>
          <p:nvPr/>
        </p:nvSpPr>
        <p:spPr>
          <a:xfrm>
            <a:off x="1618200" y="7005725"/>
            <a:ext cx="45360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accent1"/>
                </a:solidFill>
                <a:latin typeface="Lato Hairline"/>
                <a:ea typeface="Lato Hairline"/>
                <a:cs typeface="Lato Hairline"/>
                <a:sym typeface="Lato Hairline"/>
              </a:rPr>
              <a:t>M u s i c  P r e s s   K i t </a:t>
            </a:r>
            <a:endParaRPr b="0" i="0" sz="1200" u="none" cap="none" strike="noStrike">
              <a:solidFill>
                <a:schemeClr val="accent1"/>
              </a:solidFill>
              <a:latin typeface="Lato Hairline"/>
              <a:ea typeface="Lato Hairline"/>
              <a:cs typeface="Lato Hairline"/>
              <a:sym typeface="Lato Hairlin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pic>
        <p:nvPicPr>
          <p:cNvPr descr="/var/www/render_temp/18035545/1485329847/78862/slide2.png" id="23" name="Google Shape;23;p2"/>
          <p:cNvPicPr preferRelativeResize="0"/>
          <p:nvPr/>
        </p:nvPicPr>
        <p:blipFill rotWithShape="1">
          <a:blip r:embed="rId3">
            <a:alphaModFix/>
          </a:blip>
          <a:srcRect b="0" l="0" r="0" t="0"/>
          <a:stretch/>
        </p:blipFill>
        <p:spPr>
          <a:xfrm>
            <a:off x="0" y="0"/>
            <a:ext cx="7772400" cy="10058400"/>
          </a:xfrm>
          <a:prstGeom prst="rect">
            <a:avLst/>
          </a:prstGeom>
          <a:noFill/>
          <a:ln>
            <a:noFill/>
          </a:ln>
        </p:spPr>
      </p:pic>
      <p:sp>
        <p:nvSpPr>
          <p:cNvPr id="24" name="Google Shape;24;p2"/>
          <p:cNvSpPr txBox="1"/>
          <p:nvPr/>
        </p:nvSpPr>
        <p:spPr>
          <a:xfrm>
            <a:off x="384125" y="3609663"/>
            <a:ext cx="6753300" cy="1132800"/>
          </a:xfrm>
          <a:prstGeom prst="rect">
            <a:avLst/>
          </a:prstGeom>
          <a:noFill/>
          <a:ln>
            <a:noFill/>
          </a:ln>
        </p:spPr>
        <p:txBody>
          <a:bodyPr anchorCtr="0" anchor="t" bIns="91425" lIns="91425" spcFirstLastPara="1" rIns="91425" wrap="square" tIns="91425">
            <a:spAutoFit/>
          </a:bodyPr>
          <a:lstStyle/>
          <a:p>
            <a:pPr indent="457200" lvl="0" marL="0" rtl="0" algn="l">
              <a:lnSpc>
                <a:spcPct val="115000"/>
              </a:lnSpc>
              <a:spcBef>
                <a:spcPts val="0"/>
              </a:spcBef>
              <a:spcAft>
                <a:spcPts val="0"/>
              </a:spcAft>
              <a:buClr>
                <a:schemeClr val="dk1"/>
              </a:buClr>
              <a:buSzPts val="1100"/>
              <a:buFont typeface="Arial"/>
              <a:buNone/>
            </a:pPr>
            <a:r>
              <a:rPr lang="en-US" sz="1100">
                <a:solidFill>
                  <a:schemeClr val="lt1"/>
                </a:solidFill>
              </a:rPr>
              <a:t>Din anul 2017 Phaser au devenit artiști MediaPro Music și Universal Music România, împreună cu care au lansat o serie de single-uri și videoclipuri care i-au purtat pe membri trupei până în Islanda și Japonia. </a:t>
            </a:r>
            <a:endParaRPr sz="1100">
              <a:solidFill>
                <a:schemeClr val="lt1"/>
              </a:solidFill>
            </a:endParaRPr>
          </a:p>
          <a:p>
            <a:pPr indent="457200" lvl="0" marL="0" rtl="0" algn="l">
              <a:lnSpc>
                <a:spcPct val="115000"/>
              </a:lnSpc>
              <a:spcBef>
                <a:spcPts val="0"/>
              </a:spcBef>
              <a:spcAft>
                <a:spcPts val="0"/>
              </a:spcAft>
              <a:buClr>
                <a:schemeClr val="dk1"/>
              </a:buClr>
              <a:buSzPts val="1100"/>
              <a:buFont typeface="Arial"/>
              <a:buNone/>
            </a:pPr>
            <a:r>
              <a:rPr lang="en-US" sz="1100">
                <a:solidFill>
                  <a:schemeClr val="lt1"/>
                </a:solidFill>
              </a:rPr>
              <a:t>Au colaborat cu artiști precum George Hora și Kamelia, Octavian "Vita" Horvath, Șerban Cazan, Marius Pop, Lucian Nagy sau Dean Bowman, ceea ce le-a adus o varietate de influențe și un stil propriu.</a:t>
            </a:r>
            <a:endParaRPr sz="1100">
              <a:solidFill>
                <a:schemeClr val="lt1"/>
              </a:solidFill>
              <a:latin typeface="Lato"/>
              <a:ea typeface="Lato"/>
              <a:cs typeface="Lato"/>
              <a:sym typeface="Lato"/>
            </a:endParaRPr>
          </a:p>
        </p:txBody>
      </p:sp>
      <p:sp>
        <p:nvSpPr>
          <p:cNvPr id="25" name="Google Shape;25;p2"/>
          <p:cNvSpPr txBox="1"/>
          <p:nvPr/>
        </p:nvSpPr>
        <p:spPr>
          <a:xfrm>
            <a:off x="384125" y="5270400"/>
            <a:ext cx="2385000" cy="2445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chemeClr val="dk1"/>
              </a:buClr>
              <a:buSzPts val="1100"/>
              <a:buFont typeface="Arial"/>
              <a:buNone/>
            </a:pPr>
            <a:r>
              <a:rPr b="0" i="0" lang="en-US" sz="1100" u="none" cap="none" strike="noStrike">
                <a:solidFill>
                  <a:schemeClr val="lt1"/>
                </a:solidFill>
                <a:latin typeface="Lato"/>
                <a:ea typeface="Lato"/>
                <a:cs typeface="Lato"/>
                <a:sym typeface="Lato"/>
              </a:rPr>
              <a:t> </a:t>
            </a:r>
            <a:endParaRPr b="0" i="0" sz="1100" u="none" cap="none" strike="noStrike">
              <a:solidFill>
                <a:schemeClr val="lt1"/>
              </a:solidFill>
              <a:latin typeface="Lato"/>
              <a:ea typeface="Lato"/>
              <a:cs typeface="Lato"/>
              <a:sym typeface="Lato"/>
            </a:endParaRPr>
          </a:p>
          <a:p>
            <a:pPr indent="0" lvl="0" marL="0" marR="0" rtl="0" algn="just">
              <a:lnSpc>
                <a:spcPct val="115000"/>
              </a:lnSpc>
              <a:spcBef>
                <a:spcPts val="1200"/>
              </a:spcBef>
              <a:spcAft>
                <a:spcPts val="0"/>
              </a:spcAft>
              <a:buClr>
                <a:schemeClr val="dk1"/>
              </a:buClr>
              <a:buSzPts val="1100"/>
              <a:buFont typeface="Arial"/>
              <a:buNone/>
            </a:pPr>
            <a:r>
              <a:rPr b="0" i="0" lang="en-US" sz="1100" u="none" cap="none" strike="noStrike">
                <a:solidFill>
                  <a:schemeClr val="lt1"/>
                </a:solidFill>
                <a:latin typeface="Lato"/>
                <a:ea typeface="Lato"/>
                <a:cs typeface="Lato"/>
                <a:sym typeface="Lato"/>
              </a:rPr>
              <a:t>Phaser înseamnă:</a:t>
            </a:r>
            <a:endParaRPr b="0" i="0" sz="1100" u="none" cap="none" strike="noStrike">
              <a:solidFill>
                <a:schemeClr val="lt1"/>
              </a:solidFill>
              <a:latin typeface="Lato"/>
              <a:ea typeface="Lato"/>
              <a:cs typeface="Lato"/>
              <a:sym typeface="Lato"/>
            </a:endParaRPr>
          </a:p>
          <a:p>
            <a:pPr indent="0" lvl="0" marL="0" marR="0" rtl="0" algn="just">
              <a:lnSpc>
                <a:spcPct val="115000"/>
              </a:lnSpc>
              <a:spcBef>
                <a:spcPts val="1200"/>
              </a:spcBef>
              <a:spcAft>
                <a:spcPts val="0"/>
              </a:spcAft>
              <a:buClr>
                <a:schemeClr val="dk1"/>
              </a:buClr>
              <a:buSzPts val="1100"/>
              <a:buFont typeface="Arial"/>
              <a:buNone/>
            </a:pPr>
            <a:r>
              <a:rPr b="0" i="0" lang="en-US" sz="1100" u="none" cap="none" strike="noStrike">
                <a:solidFill>
                  <a:schemeClr val="lt1"/>
                </a:solidFill>
                <a:latin typeface="Lato"/>
                <a:ea typeface="Lato"/>
                <a:cs typeface="Lato"/>
                <a:sym typeface="Lato"/>
              </a:rPr>
              <a:t>Carina Dumitru - voce</a:t>
            </a:r>
            <a:endParaRPr b="0" i="0" sz="1100" u="none" cap="none" strike="noStrike">
              <a:solidFill>
                <a:schemeClr val="lt1"/>
              </a:solidFill>
              <a:latin typeface="Lato"/>
              <a:ea typeface="Lato"/>
              <a:cs typeface="Lato"/>
              <a:sym typeface="Lato"/>
            </a:endParaRPr>
          </a:p>
          <a:p>
            <a:pPr indent="0" lvl="0" marL="0" marR="0" rtl="0" algn="just">
              <a:lnSpc>
                <a:spcPct val="115000"/>
              </a:lnSpc>
              <a:spcBef>
                <a:spcPts val="1200"/>
              </a:spcBef>
              <a:spcAft>
                <a:spcPts val="0"/>
              </a:spcAft>
              <a:buClr>
                <a:schemeClr val="dk1"/>
              </a:buClr>
              <a:buSzPts val="1100"/>
              <a:buFont typeface="Arial"/>
              <a:buNone/>
            </a:pPr>
            <a:r>
              <a:rPr b="0" i="0" lang="en-US" sz="1100" u="none" cap="none" strike="noStrike">
                <a:solidFill>
                  <a:schemeClr val="lt1"/>
                </a:solidFill>
                <a:latin typeface="Lato"/>
                <a:ea typeface="Lato"/>
                <a:cs typeface="Lato"/>
                <a:sym typeface="Lato"/>
              </a:rPr>
              <a:t>Radu Racz - bas</a:t>
            </a:r>
            <a:endParaRPr b="0" i="0" sz="1100" u="none" cap="none" strike="noStrike">
              <a:solidFill>
                <a:schemeClr val="lt1"/>
              </a:solidFill>
              <a:latin typeface="Lato"/>
              <a:ea typeface="Lato"/>
              <a:cs typeface="Lato"/>
              <a:sym typeface="Lato"/>
            </a:endParaRPr>
          </a:p>
          <a:p>
            <a:pPr indent="0" lvl="0" marL="0" marR="0" rtl="0" algn="just">
              <a:lnSpc>
                <a:spcPct val="115000"/>
              </a:lnSpc>
              <a:spcBef>
                <a:spcPts val="1200"/>
              </a:spcBef>
              <a:spcAft>
                <a:spcPts val="0"/>
              </a:spcAft>
              <a:buClr>
                <a:schemeClr val="dk1"/>
              </a:buClr>
              <a:buSzPts val="1100"/>
              <a:buFont typeface="Arial"/>
              <a:buNone/>
            </a:pPr>
            <a:r>
              <a:rPr b="0" i="0" lang="en-US" sz="1100" u="none" cap="none" strike="noStrike">
                <a:solidFill>
                  <a:schemeClr val="lt1"/>
                </a:solidFill>
                <a:latin typeface="Lato"/>
                <a:ea typeface="Lato"/>
                <a:cs typeface="Lato"/>
                <a:sym typeface="Lato"/>
              </a:rPr>
              <a:t>Lucian Oprișan - clape</a:t>
            </a:r>
            <a:endParaRPr b="0" i="0" sz="1100" u="none" cap="none" strike="noStrike">
              <a:solidFill>
                <a:schemeClr val="lt1"/>
              </a:solidFill>
              <a:latin typeface="Lato"/>
              <a:ea typeface="Lato"/>
              <a:cs typeface="Lato"/>
              <a:sym typeface="Lato"/>
            </a:endParaRPr>
          </a:p>
          <a:p>
            <a:pPr indent="0" lvl="0" marL="0" marR="0" rtl="0" algn="just">
              <a:lnSpc>
                <a:spcPct val="115000"/>
              </a:lnSpc>
              <a:spcBef>
                <a:spcPts val="1200"/>
              </a:spcBef>
              <a:spcAft>
                <a:spcPts val="0"/>
              </a:spcAft>
              <a:buClr>
                <a:schemeClr val="dk1"/>
              </a:buClr>
              <a:buSzPts val="1100"/>
              <a:buFont typeface="Arial"/>
              <a:buNone/>
            </a:pPr>
            <a:r>
              <a:rPr b="0" i="0" lang="en-US" sz="1100" u="none" cap="none" strike="noStrike">
                <a:solidFill>
                  <a:schemeClr val="lt1"/>
                </a:solidFill>
                <a:latin typeface="Lato"/>
                <a:ea typeface="Lato"/>
                <a:cs typeface="Lato"/>
                <a:sym typeface="Lato"/>
              </a:rPr>
              <a:t>Arnold Birta - tobe</a:t>
            </a:r>
            <a:endParaRPr b="0" i="0" sz="1100" u="none" cap="none" strike="noStrike">
              <a:solidFill>
                <a:schemeClr val="lt1"/>
              </a:solidFill>
              <a:latin typeface="Lato"/>
              <a:ea typeface="Lato"/>
              <a:cs typeface="Lato"/>
              <a:sym typeface="Lato"/>
            </a:endParaRPr>
          </a:p>
          <a:p>
            <a:pPr indent="0" lvl="0" marL="0" marR="0" rtl="0" algn="just">
              <a:lnSpc>
                <a:spcPct val="115000"/>
              </a:lnSpc>
              <a:spcBef>
                <a:spcPts val="1200"/>
              </a:spcBef>
              <a:spcAft>
                <a:spcPts val="1200"/>
              </a:spcAft>
              <a:buClr>
                <a:srgbClr val="000000"/>
              </a:buClr>
              <a:buSzPts val="1100"/>
              <a:buFont typeface="Arial"/>
              <a:buNone/>
            </a:pPr>
            <a:r>
              <a:rPr b="0" i="0" lang="en-US" sz="1100" u="none" cap="none" strike="noStrike">
                <a:solidFill>
                  <a:schemeClr val="lt1"/>
                </a:solidFill>
                <a:latin typeface="Lato"/>
                <a:ea typeface="Lato"/>
                <a:cs typeface="Lato"/>
                <a:sym typeface="Lato"/>
              </a:rPr>
              <a:t>Sebastian Bârzeianu - chitară</a:t>
            </a:r>
            <a:endParaRPr b="0" i="0" sz="1100" u="none" cap="none" strike="noStrike">
              <a:solidFill>
                <a:schemeClr val="lt1"/>
              </a:solidFill>
              <a:latin typeface="Lato"/>
              <a:ea typeface="Lato"/>
              <a:cs typeface="Lato"/>
              <a:sym typeface="Lato"/>
            </a:endParaRPr>
          </a:p>
        </p:txBody>
      </p:sp>
      <p:sp>
        <p:nvSpPr>
          <p:cNvPr id="26" name="Google Shape;26;p2"/>
          <p:cNvSpPr txBox="1"/>
          <p:nvPr/>
        </p:nvSpPr>
        <p:spPr>
          <a:xfrm>
            <a:off x="384125" y="8049075"/>
            <a:ext cx="2385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100"/>
              <a:buFont typeface="Arial"/>
              <a:buNone/>
            </a:pPr>
            <a:r>
              <a:rPr b="0" i="0" lang="en-US" sz="1100" u="none" cap="none" strike="noStrike">
                <a:solidFill>
                  <a:schemeClr val="lt1"/>
                </a:solidFill>
                <a:latin typeface="Lato"/>
                <a:ea typeface="Lato"/>
                <a:cs typeface="Lato"/>
                <a:sym typeface="Lato"/>
              </a:rPr>
              <a:t> Follow us on:</a:t>
            </a:r>
            <a:endParaRPr b="0" i="0" sz="1100" u="none" cap="none" strike="noStrike">
              <a:solidFill>
                <a:schemeClr val="lt1"/>
              </a:solidFill>
              <a:latin typeface="Lato"/>
              <a:ea typeface="Lato"/>
              <a:cs typeface="Lato"/>
              <a:sym typeface="Lato"/>
            </a:endParaRPr>
          </a:p>
        </p:txBody>
      </p:sp>
      <p:pic>
        <p:nvPicPr>
          <p:cNvPr id="27" name="Google Shape;27;p2">
            <a:hlinkClick r:id="rId4"/>
          </p:cNvPr>
          <p:cNvPicPr preferRelativeResize="0"/>
          <p:nvPr/>
        </p:nvPicPr>
        <p:blipFill rotWithShape="1">
          <a:blip r:embed="rId5">
            <a:alphaModFix/>
          </a:blip>
          <a:srcRect b="0" l="0" r="0" t="0"/>
          <a:stretch/>
        </p:blipFill>
        <p:spPr>
          <a:xfrm>
            <a:off x="384123" y="8467673"/>
            <a:ext cx="446625" cy="446650"/>
          </a:xfrm>
          <a:prstGeom prst="rect">
            <a:avLst/>
          </a:prstGeom>
          <a:noFill/>
          <a:ln>
            <a:noFill/>
          </a:ln>
        </p:spPr>
      </p:pic>
      <p:pic>
        <p:nvPicPr>
          <p:cNvPr id="28" name="Google Shape;28;p2">
            <a:hlinkClick r:id="rId6"/>
          </p:cNvPr>
          <p:cNvPicPr preferRelativeResize="0"/>
          <p:nvPr/>
        </p:nvPicPr>
        <p:blipFill rotWithShape="1">
          <a:blip r:embed="rId7">
            <a:alphaModFix/>
          </a:blip>
          <a:srcRect b="0" l="0" r="0" t="0"/>
          <a:stretch/>
        </p:blipFill>
        <p:spPr>
          <a:xfrm>
            <a:off x="952150" y="8467700"/>
            <a:ext cx="446625" cy="446625"/>
          </a:xfrm>
          <a:prstGeom prst="rect">
            <a:avLst/>
          </a:prstGeom>
          <a:noFill/>
          <a:ln>
            <a:noFill/>
          </a:ln>
        </p:spPr>
      </p:pic>
      <p:pic>
        <p:nvPicPr>
          <p:cNvPr id="29" name="Google Shape;29;p2">
            <a:hlinkClick r:id="rId8"/>
          </p:cNvPr>
          <p:cNvPicPr preferRelativeResize="0"/>
          <p:nvPr/>
        </p:nvPicPr>
        <p:blipFill rotWithShape="1">
          <a:blip r:embed="rId9">
            <a:alphaModFix/>
          </a:blip>
          <a:srcRect b="0" l="0" r="0" t="0"/>
          <a:stretch/>
        </p:blipFill>
        <p:spPr>
          <a:xfrm>
            <a:off x="1520175" y="8445375"/>
            <a:ext cx="491275" cy="491275"/>
          </a:xfrm>
          <a:prstGeom prst="rect">
            <a:avLst/>
          </a:prstGeom>
          <a:noFill/>
          <a:ln>
            <a:noFill/>
          </a:ln>
        </p:spPr>
      </p:pic>
      <p:sp>
        <p:nvSpPr>
          <p:cNvPr id="30" name="Google Shape;30;p2"/>
          <p:cNvSpPr txBox="1"/>
          <p:nvPr/>
        </p:nvSpPr>
        <p:spPr>
          <a:xfrm>
            <a:off x="3850075" y="5717050"/>
            <a:ext cx="3287400" cy="1132800"/>
          </a:xfrm>
          <a:prstGeom prst="rect">
            <a:avLst/>
          </a:prstGeom>
          <a:noFill/>
          <a:ln>
            <a:noFill/>
          </a:ln>
        </p:spPr>
        <p:txBody>
          <a:bodyPr anchorCtr="0" anchor="t" bIns="91425" lIns="91425" spcFirstLastPara="1" rIns="91425" wrap="square" tIns="91425">
            <a:spAutoFit/>
          </a:bodyPr>
          <a:lstStyle/>
          <a:p>
            <a:pPr indent="45720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Lato"/>
                <a:ea typeface="Lato"/>
                <a:cs typeface="Lato"/>
                <a:sym typeface="Lato"/>
              </a:rPr>
              <a:t>În 2021 trupa a lansat primul album, "Început de Univers", care conține 16 piese. Albumul este prezent pe toate platformele de streaming, iar acum este disponibil  și în format fizic alături de un packaging special. </a:t>
            </a:r>
            <a:endParaRPr b="0" i="0" sz="1100" u="none" cap="none" strike="noStrike">
              <a:solidFill>
                <a:srgbClr val="000000"/>
              </a:solidFill>
              <a:latin typeface="Lato"/>
              <a:ea typeface="Lato"/>
              <a:cs typeface="Lato"/>
              <a:sym typeface="Lato"/>
            </a:endParaRPr>
          </a:p>
        </p:txBody>
      </p:sp>
      <p:sp>
        <p:nvSpPr>
          <p:cNvPr id="31" name="Google Shape;31;p2"/>
          <p:cNvSpPr txBox="1"/>
          <p:nvPr/>
        </p:nvSpPr>
        <p:spPr>
          <a:xfrm>
            <a:off x="384125" y="1429413"/>
            <a:ext cx="2385000" cy="1522200"/>
          </a:xfrm>
          <a:prstGeom prst="rect">
            <a:avLst/>
          </a:prstGeom>
          <a:noFill/>
          <a:ln>
            <a:noFill/>
          </a:ln>
        </p:spPr>
        <p:txBody>
          <a:bodyPr anchorCtr="0" anchor="t" bIns="91425" lIns="91425" spcFirstLastPara="1" rIns="91425" wrap="square" tIns="91425">
            <a:spAutoFit/>
          </a:bodyPr>
          <a:lstStyle/>
          <a:p>
            <a:pPr indent="457200" lvl="0" marL="0" rtl="0" algn="l">
              <a:lnSpc>
                <a:spcPct val="115000"/>
              </a:lnSpc>
              <a:spcBef>
                <a:spcPts val="0"/>
              </a:spcBef>
              <a:spcAft>
                <a:spcPts val="0"/>
              </a:spcAft>
              <a:buClr>
                <a:schemeClr val="dk1"/>
              </a:buClr>
              <a:buSzPts val="1100"/>
              <a:buFont typeface="Arial"/>
              <a:buNone/>
            </a:pPr>
            <a:r>
              <a:rPr lang="en-US" sz="1100">
                <a:solidFill>
                  <a:schemeClr val="dk1"/>
                </a:solidFill>
              </a:rPr>
              <a:t>Phaser este o trupă pop-rock din Timișoara ce s-a făcut remarcată pe plan național odată cu participarea la concursul Eurovision în anul 2013, </a:t>
            </a:r>
            <a:r>
              <a:rPr lang="en-US" sz="1100">
                <a:solidFill>
                  <a:srgbClr val="222222"/>
                </a:solidFill>
              </a:rPr>
              <a:t>și prin lansarea primelor piese originale alături de Studio66.</a:t>
            </a:r>
            <a:endParaRPr sz="1100">
              <a:solidFill>
                <a:schemeClr val="dk1"/>
              </a:solidFill>
              <a:latin typeface="Lato"/>
              <a:ea typeface="Lato"/>
              <a:cs typeface="Lato"/>
              <a:sym typeface="Lato"/>
            </a:endParaRPr>
          </a:p>
        </p:txBody>
      </p:sp>
      <p:pic>
        <p:nvPicPr>
          <p:cNvPr id="32" name="Google Shape;32;p2" title="Phaser | Reel Concert">
            <a:hlinkClick r:id="rId10"/>
          </p:cNvPr>
          <p:cNvPicPr preferRelativeResize="0"/>
          <p:nvPr/>
        </p:nvPicPr>
        <p:blipFill>
          <a:blip r:embed="rId11">
            <a:alphaModFix/>
          </a:blip>
          <a:stretch>
            <a:fillRect/>
          </a:stretch>
        </p:blipFill>
        <p:spPr>
          <a:xfrm>
            <a:off x="2683700" y="1063338"/>
            <a:ext cx="3637022" cy="2045825"/>
          </a:xfrm>
          <a:prstGeom prst="rect">
            <a:avLst/>
          </a:prstGeom>
          <a:noFill/>
          <a:ln>
            <a:noFill/>
          </a:ln>
        </p:spPr>
      </p:pic>
      <p:pic>
        <p:nvPicPr>
          <p:cNvPr id="33" name="Google Shape;33;p2"/>
          <p:cNvPicPr preferRelativeResize="0"/>
          <p:nvPr/>
        </p:nvPicPr>
        <p:blipFill rotWithShape="1">
          <a:blip r:embed="rId12">
            <a:alphaModFix amt="88000"/>
          </a:blip>
          <a:srcRect b="0" l="0" r="0" t="0"/>
          <a:stretch/>
        </p:blipFill>
        <p:spPr>
          <a:xfrm>
            <a:off x="3747138" y="1319677"/>
            <a:ext cx="1510125" cy="1510125"/>
          </a:xfrm>
          <a:prstGeom prst="rect">
            <a:avLst/>
          </a:prstGeom>
          <a:noFill/>
          <a:ln>
            <a:noFill/>
          </a:ln>
        </p:spPr>
      </p:pic>
      <p:sp>
        <p:nvSpPr>
          <p:cNvPr id="34" name="Google Shape;34;p2"/>
          <p:cNvSpPr txBox="1"/>
          <p:nvPr/>
        </p:nvSpPr>
        <p:spPr>
          <a:xfrm>
            <a:off x="3309700" y="1029213"/>
            <a:ext cx="23850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1400"/>
              <a:buFont typeface="Arial"/>
              <a:buNone/>
            </a:pPr>
            <a:r>
              <a:rPr lang="en-US">
                <a:solidFill>
                  <a:schemeClr val="lt1"/>
                </a:solidFill>
                <a:latin typeface="Lato"/>
                <a:ea typeface="Lato"/>
                <a:cs typeface="Lato"/>
                <a:sym typeface="Lato"/>
              </a:rPr>
              <a:t>Show Reel</a:t>
            </a:r>
            <a:endParaRPr b="0" i="0" sz="1400" u="none" cap="none" strike="noStrike">
              <a:solidFill>
                <a:schemeClr val="l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
                                        </p:tgtEl>
                                        <p:attrNameLst>
                                          <p:attrName>style.visibility</p:attrName>
                                        </p:attrNameLst>
                                      </p:cBhvr>
                                      <p:to>
                                        <p:strVal val="visible"/>
                                      </p:to>
                                    </p:set>
                                    <p:animEffect filter="fade" transition="in">
                                      <p:cBhvr>
                                        <p:cTn dur="1000"/>
                                        <p:tgtEl>
                                          <p:spTgt spid="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pic>
        <p:nvPicPr>
          <p:cNvPr descr="/var/www/render_temp/18035545/1485329847/78862/slide3.png" id="40" name="Google Shape;40;p3"/>
          <p:cNvPicPr preferRelativeResize="0"/>
          <p:nvPr/>
        </p:nvPicPr>
        <p:blipFill rotWithShape="1">
          <a:blip r:embed="rId3">
            <a:alphaModFix/>
          </a:blip>
          <a:srcRect b="0" l="0" r="0" t="0"/>
          <a:stretch/>
        </p:blipFill>
        <p:spPr>
          <a:xfrm>
            <a:off x="0" y="0"/>
            <a:ext cx="7772400" cy="10058400"/>
          </a:xfrm>
          <a:prstGeom prst="rect">
            <a:avLst/>
          </a:prstGeom>
          <a:noFill/>
          <a:ln>
            <a:noFill/>
          </a:ln>
        </p:spPr>
      </p:pic>
      <p:pic>
        <p:nvPicPr>
          <p:cNvPr descr="Phaser - #PanaVineDimineata (Official Music Video)&#10;✅Stream/Download: https://MediaPro.lnk.to/PanaVineDimineataYD&#10;✅Top Romanian Music: https://Digster.lnk.to/RomanianYD&#10;✅Subscribe to MediaPro Music: https://goo.gl/WVGytj&#10;Don't forget to follow us:&#10;https://www.instagram.com/mediapromusic/&#10;http://www.facebook.com/MediaProMusicRomania&#10;http://www.youtube.com/MediaProMusic&#10;https://www.facebook.com/MediaProMusicBooking&#10;http://www.mediapromusic.ro&#10;&#10;Licensing: contact@mediapromusic.ro&#10;&#10;Muzica si text: Phaser&#10;Video/DOP: Sebastian MARU Films&#10;Co-productie muzicala: George Hora (Studio66)&#10;Mix / Master: George Hora (Studio66)&#10;Actori: Jacqueline Bugilan, Horea Bite&#10;&#10;MediaPro Music is a top Romanian record label, part of the Universal Music Group, that manages a portfolio of over 50 local artists. &#10;We gathered and successfully promote some of the most representative Romanian artists: Alexandra Stan, Loredana, Holograf, Andra, Dan Balan, Matteo, Alina Eremia, Dorian Popa, Stefan Banica, Lora, Liviu Teodorescu, Ioana Ignat, AMI, Nicole Cherry and many more.&#10;Our Mission is to discover and promote artists at their best potential and develop the entertainment market across the world through the production and promotion of high quality musical products. &#10;&#10;(C) &amp; (P) MediaPro Music Entertainment 2018&#10;All rights reserved. Unauthorized reproduction is a violation of applicable laws&#10;In order to avoid copyright infringement, please, do not upload this song on your channel" id="41" name="Google Shape;41;p3" title="Phaser - Pana vine dimineata (Official Music Video)">
            <a:hlinkClick r:id="rId4"/>
          </p:cNvPr>
          <p:cNvPicPr preferRelativeResize="0"/>
          <p:nvPr/>
        </p:nvPicPr>
        <p:blipFill rotWithShape="1">
          <a:blip r:embed="rId5">
            <a:alphaModFix/>
          </a:blip>
          <a:srcRect b="0" l="0" r="0" t="0"/>
          <a:stretch/>
        </p:blipFill>
        <p:spPr>
          <a:xfrm>
            <a:off x="3484600" y="2974675"/>
            <a:ext cx="2205212" cy="1653900"/>
          </a:xfrm>
          <a:prstGeom prst="rect">
            <a:avLst/>
          </a:prstGeom>
          <a:noFill/>
          <a:ln>
            <a:noFill/>
          </a:ln>
        </p:spPr>
      </p:pic>
      <p:pic>
        <p:nvPicPr>
          <p:cNvPr descr="Phaser - Calatori (Official Video)&#10;Stream / Download link: https://MediaPro.lnk.to/CalatoriYT&#10;Subscribe to MediaPro Music: http://www.youtube.com/subscription_center?add_user=MediaProMusic&#10;Find us on the web:&#10;http://www.mediapromusic.ro&#10;http://www.facebook.com/MediaProMusicRomania&#10;http://www.youtube.com/MediaProMusic&#10;https://www.facebook.com/MediaProMusicBooking&#10;&#10;Licensing: contact@mediapromusic.ro&#10;&#10;Muzica si text: Phaser&#10;Regia/DOP: Sebastian MARU Films&#10;Mix si master: George Hora/Studio66&#10;&#10;MediaPro Music is a Romanian record label, part of the Universal Music Group, that manages a portfolio of over 50 local artists. &#10;We gathered and successfully promote some of the most representative Romanian artists: Alexandra Stan, Loredana, Holograf, Andra, Dan Balan, Alina Eremia, Dorian Popa, Stefan Banica, Lora, Vunk, AMI, Nicole Cherry and many more.&#10;MediaPro Music is a multimedia entertainment company which will supply the best audio and visual entertainment to the public.&#10;Our Mission is to discover and promote artists at their best potential and develop the entertainment market across the world through the production and promotion of high quality musical products. &#10;&#10;(C) &amp; (P) MediaPro Music Entertainment 2017&#10;All rights reserved. Unauthorized reproduction is a violation of applicable laws&#10;In order to avoid copyright infringement, please, do not upload this song on your channel" id="42" name="Google Shape;42;p3" title="Phaser - Calatori (Official Video)">
            <a:hlinkClick r:id="rId6"/>
          </p:cNvPr>
          <p:cNvPicPr preferRelativeResize="0"/>
          <p:nvPr/>
        </p:nvPicPr>
        <p:blipFill rotWithShape="1">
          <a:blip r:embed="rId7">
            <a:alphaModFix/>
          </a:blip>
          <a:srcRect b="0" l="0" r="0" t="0"/>
          <a:stretch/>
        </p:blipFill>
        <p:spPr>
          <a:xfrm>
            <a:off x="3484602" y="7046727"/>
            <a:ext cx="2205200" cy="1653880"/>
          </a:xfrm>
          <a:prstGeom prst="rect">
            <a:avLst/>
          </a:prstGeom>
          <a:noFill/>
          <a:ln>
            <a:noFill/>
          </a:ln>
        </p:spPr>
      </p:pic>
      <p:pic>
        <p:nvPicPr>
          <p:cNvPr id="43" name="Google Shape;43;p3"/>
          <p:cNvPicPr preferRelativeResize="0"/>
          <p:nvPr/>
        </p:nvPicPr>
        <p:blipFill rotWithShape="1">
          <a:blip r:embed="rId8">
            <a:alphaModFix amt="88000"/>
          </a:blip>
          <a:srcRect b="0" l="0" r="0" t="0"/>
          <a:stretch/>
        </p:blipFill>
        <p:spPr>
          <a:xfrm>
            <a:off x="2990326" y="1383375"/>
            <a:ext cx="706875" cy="706875"/>
          </a:xfrm>
          <a:prstGeom prst="rect">
            <a:avLst/>
          </a:prstGeom>
          <a:noFill/>
          <a:ln>
            <a:noFill/>
          </a:ln>
        </p:spPr>
      </p:pic>
      <p:pic>
        <p:nvPicPr>
          <p:cNvPr id="44" name="Google Shape;44;p3"/>
          <p:cNvPicPr preferRelativeResize="0"/>
          <p:nvPr/>
        </p:nvPicPr>
        <p:blipFill rotWithShape="1">
          <a:blip r:embed="rId8">
            <a:alphaModFix amt="88000"/>
          </a:blip>
          <a:srcRect b="0" l="0" r="0" t="0"/>
          <a:stretch/>
        </p:blipFill>
        <p:spPr>
          <a:xfrm>
            <a:off x="4233763" y="3448187"/>
            <a:ext cx="706875" cy="706875"/>
          </a:xfrm>
          <a:prstGeom prst="rect">
            <a:avLst/>
          </a:prstGeom>
          <a:noFill/>
          <a:ln>
            <a:noFill/>
          </a:ln>
        </p:spPr>
      </p:pic>
      <p:pic>
        <p:nvPicPr>
          <p:cNvPr id="45" name="Google Shape;45;p3"/>
          <p:cNvPicPr preferRelativeResize="0"/>
          <p:nvPr/>
        </p:nvPicPr>
        <p:blipFill rotWithShape="1">
          <a:blip r:embed="rId8">
            <a:alphaModFix amt="88000"/>
          </a:blip>
          <a:srcRect b="0" l="0" r="0" t="0"/>
          <a:stretch/>
        </p:blipFill>
        <p:spPr>
          <a:xfrm>
            <a:off x="2990313" y="5484213"/>
            <a:ext cx="706875" cy="706875"/>
          </a:xfrm>
          <a:prstGeom prst="rect">
            <a:avLst/>
          </a:prstGeom>
          <a:noFill/>
          <a:ln>
            <a:noFill/>
          </a:ln>
        </p:spPr>
      </p:pic>
      <p:pic>
        <p:nvPicPr>
          <p:cNvPr id="46" name="Google Shape;46;p3"/>
          <p:cNvPicPr preferRelativeResize="0"/>
          <p:nvPr/>
        </p:nvPicPr>
        <p:blipFill rotWithShape="1">
          <a:blip r:embed="rId8">
            <a:alphaModFix amt="88000"/>
          </a:blip>
          <a:srcRect b="0" l="0" r="0" t="0"/>
          <a:stretch/>
        </p:blipFill>
        <p:spPr>
          <a:xfrm>
            <a:off x="4233763" y="7520225"/>
            <a:ext cx="706875" cy="706875"/>
          </a:xfrm>
          <a:prstGeom prst="rect">
            <a:avLst/>
          </a:prstGeom>
          <a:noFill/>
          <a:ln>
            <a:noFill/>
          </a:ln>
        </p:spPr>
      </p:pic>
      <p:sp>
        <p:nvSpPr>
          <p:cNvPr id="47" name="Google Shape;47;p3"/>
          <p:cNvSpPr txBox="1"/>
          <p:nvPr/>
        </p:nvSpPr>
        <p:spPr>
          <a:xfrm>
            <a:off x="660700" y="1629013"/>
            <a:ext cx="2385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200"/>
              <a:buFont typeface="Arial"/>
              <a:buNone/>
            </a:pPr>
            <a:r>
              <a:rPr b="0" i="0" lang="en-US" sz="1200" u="none" cap="none" strike="noStrike">
                <a:solidFill>
                  <a:schemeClr val="lt1"/>
                </a:solidFill>
                <a:latin typeface="Lato"/>
                <a:ea typeface="Lato"/>
                <a:cs typeface="Lato"/>
                <a:sym typeface="Lato"/>
              </a:rPr>
              <a:t>Spune-mi unde ești</a:t>
            </a:r>
            <a:endParaRPr b="0" i="0" sz="1200" u="none" cap="none" strike="noStrike">
              <a:solidFill>
                <a:schemeClr val="lt1"/>
              </a:solidFill>
              <a:latin typeface="Lato"/>
              <a:ea typeface="Lato"/>
              <a:cs typeface="Lato"/>
              <a:sym typeface="Lato"/>
            </a:endParaRPr>
          </a:p>
        </p:txBody>
      </p:sp>
      <p:sp>
        <p:nvSpPr>
          <p:cNvPr id="48" name="Google Shape;48;p3"/>
          <p:cNvSpPr txBox="1"/>
          <p:nvPr/>
        </p:nvSpPr>
        <p:spPr>
          <a:xfrm>
            <a:off x="5824450" y="3616963"/>
            <a:ext cx="2385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200"/>
              <a:buFont typeface="Arial"/>
              <a:buNone/>
            </a:pPr>
            <a:r>
              <a:rPr b="0" i="0" lang="en-US" sz="1200" u="none" cap="none" strike="noStrike">
                <a:solidFill>
                  <a:schemeClr val="lt1"/>
                </a:solidFill>
                <a:latin typeface="Lato"/>
                <a:ea typeface="Lato"/>
                <a:cs typeface="Lato"/>
                <a:sym typeface="Lato"/>
              </a:rPr>
              <a:t>Până vine dimineața </a:t>
            </a:r>
            <a:endParaRPr b="0" i="0" sz="1200" u="none" cap="none" strike="noStrike">
              <a:solidFill>
                <a:schemeClr val="lt1"/>
              </a:solidFill>
              <a:latin typeface="Lato"/>
              <a:ea typeface="Lato"/>
              <a:cs typeface="Lato"/>
              <a:sym typeface="Lato"/>
            </a:endParaRPr>
          </a:p>
        </p:txBody>
      </p:sp>
      <p:sp>
        <p:nvSpPr>
          <p:cNvPr id="49" name="Google Shape;49;p3"/>
          <p:cNvSpPr txBox="1"/>
          <p:nvPr/>
        </p:nvSpPr>
        <p:spPr>
          <a:xfrm>
            <a:off x="527250" y="5681788"/>
            <a:ext cx="2385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200"/>
              <a:buFont typeface="Arial"/>
              <a:buNone/>
            </a:pPr>
            <a:r>
              <a:rPr b="0" i="0" lang="en-US" sz="1200" u="none" cap="none" strike="noStrike">
                <a:solidFill>
                  <a:schemeClr val="lt1"/>
                </a:solidFill>
                <a:latin typeface="Lato"/>
                <a:ea typeface="Lato"/>
                <a:cs typeface="Lato"/>
                <a:sym typeface="Lato"/>
              </a:rPr>
              <a:t>Armele jos</a:t>
            </a:r>
            <a:endParaRPr b="0" i="0" sz="1200" u="none" cap="none" strike="noStrike">
              <a:solidFill>
                <a:schemeClr val="lt1"/>
              </a:solidFill>
              <a:latin typeface="Lato"/>
              <a:ea typeface="Lato"/>
              <a:cs typeface="Lato"/>
              <a:sym typeface="Lato"/>
            </a:endParaRPr>
          </a:p>
        </p:txBody>
      </p:sp>
      <p:sp>
        <p:nvSpPr>
          <p:cNvPr id="50" name="Google Shape;50;p3"/>
          <p:cNvSpPr txBox="1"/>
          <p:nvPr/>
        </p:nvSpPr>
        <p:spPr>
          <a:xfrm>
            <a:off x="5941100" y="7689000"/>
            <a:ext cx="2385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200"/>
              <a:buFont typeface="Arial"/>
              <a:buNone/>
            </a:pPr>
            <a:r>
              <a:rPr b="0" i="0" lang="en-US" sz="1200" u="none" cap="none" strike="noStrike">
                <a:solidFill>
                  <a:schemeClr val="lt1"/>
                </a:solidFill>
                <a:latin typeface="Lato"/>
                <a:ea typeface="Lato"/>
                <a:cs typeface="Lato"/>
                <a:sym typeface="Lato"/>
              </a:rPr>
              <a:t>Călători</a:t>
            </a:r>
            <a:endParaRPr b="0" i="0" sz="1200" u="none" cap="none" strike="noStrike">
              <a:solidFill>
                <a:schemeClr val="lt1"/>
              </a:solidFill>
              <a:latin typeface="Lato"/>
              <a:ea typeface="Lato"/>
              <a:cs typeface="Lato"/>
              <a:sym typeface="Lato"/>
            </a:endParaRPr>
          </a:p>
        </p:txBody>
      </p:sp>
      <p:pic>
        <p:nvPicPr>
          <p:cNvPr descr="✅Stream/Download: https://Phaser.lnk.to/SpuneMiUndeEsti&#10;✅This Is PHASER Spotify playlist: http://smarturl.it/ThisIsPhaser&#10;✅Future Hits: https://Digster.lnk.to/FutureHitsYD&#10;✅Top Romanian Music: https://Digster.lnk.to/RomanianYD&#10;✅Subscribe to MediaPro Music: https://goo.gl/WVGytj&#10;Don't forget to follow us:&#10;https://www.instagram.com/mediapromusic/&#10;http://www.facebook.com/MediaProMusicRomania&#10;http://www.youtube.com/MediaProMusic&#10;https://www.facebook.com/MediaProMusicBooking&#10;http://www.mediapromusic.ro&#10;&#10;#Phaser #Spune-miUndeEsti #MediaProMusic&#10;&#10;Follow Phaser&#10;https://facebook.com/PhaserOfficial/&#10;https://instagram.com/wearephaser/&#10;&#10;Muzica &amp; text: Phaser (Carina Dumitru, Sebastian Bârzeianu, Radu Racz, Arnold Birta, Lucian Oprișan)&#10;Producatori: Phaser &amp; George Hora&#10;Video: Sebastian Maru Films&#10;&#10;Licensing: contact@mediapromusic.ro&#10;&#10;MediaPro Music is a top Romanian record label, part of the Universal Music Group, that manages a portfolio of over 50 local artists. &#10;We gathered and successfully promote some of the most representative Romanian artists: Alexandra Stan, Loredana, Holograf, Andra, Dan Balan, Matteo, Alina Eremia, Dorian Popa, Stefan Banica, Lora, Liviu Teodorescu, Ioana Ignat, AMI, Nicole Cherry and many more.&#10;Our Mission is to discover and promote artists at their best potential and develop the entertainment market across the world through the production and promotion of high quality musical products. &#10;&#10;(C) &amp; (P) MediaPro Music Entertainment 2019&#10;All rights reserved. Unauthorized reproduction is a violation of applicable laws&#10;In order to avoid copyright infringement, please, do not upload this song on your channel" id="51" name="Google Shape;51;p3" title="Phaser - Spune-mi unde esti (Official Video)">
            <a:hlinkClick r:id="rId9"/>
          </p:cNvPr>
          <p:cNvPicPr preferRelativeResize="0"/>
          <p:nvPr/>
        </p:nvPicPr>
        <p:blipFill rotWithShape="1">
          <a:blip r:embed="rId10">
            <a:alphaModFix/>
          </a:blip>
          <a:srcRect b="0" l="0" r="0" t="0"/>
          <a:stretch/>
        </p:blipFill>
        <p:spPr>
          <a:xfrm>
            <a:off x="2119900" y="1060412"/>
            <a:ext cx="2447725" cy="1376825"/>
          </a:xfrm>
          <a:prstGeom prst="rect">
            <a:avLst/>
          </a:prstGeom>
          <a:noFill/>
          <a:ln>
            <a:noFill/>
          </a:ln>
        </p:spPr>
      </p:pic>
      <p:pic>
        <p:nvPicPr>
          <p:cNvPr descr="Subscribe to our channel 🔔  http://smarturl.it/Studio66YTsubscribe&#10;&#10;&quot;Armele Jos&quot; Stream &amp; Download 🎧 https://bfan.link/armele-jos&#10;&#10;Concerte ❌ Management &amp; PR:&#10;Ramona | 0764111116 | studio66records@gmail.com&#10;&#10;Follow #GeorgeHora &#10;TikTok: https://www.tiktok.com/@georgehora &#10;Instagram: https://www.instagram.com/georgehora&#10;Facebook: https://www.facebook.com/GeorgeHoraOfficial&#10;▶️ Spotify: https://smarturl.it/SpotifyGeorgeHora&#10;▶️ Apple Music: https://smarturl.it/AppleMusicGeorgeHora&#10;&#10;Follow #Phaser:&#10;Facebook: https://facebook.com/PhaserOfficial&#10;Instagram: https://instagram.com/wearephaser&#10;&#10;Follow #Studio66Records:&#10;FB: https://www.facebook.com/Studio66Records&#10;INSTA: https://www.instagram.com/studio66music&#10;TikTok: https://www.tiktok.com/@studio66records&#10;Site Oficial: https://studio66records.ro&#10;&#10;Muzica: George Hora&#10;Text: Dumitrescu Mihai&#10;Productie: Erik Kecse, George Hora&#10;&#10;Video:&#10;Produced by: Studio 66 Records &amp; Phaser&#10;Directed by: Carina Dumitru, George Hora, Radu Racz&#10;&#10;DP/Camera Operator: Seba Maru&#10;Assistant Production: Valetin Solomie&#10;Location: HDV &#10;&#10;Edit/Color Video: George Hora&#10;&#10;Styling/Production Design: Carina Dumitru&#10;Asistant Art Team: Emilia Cotor&#10;&#10;Lights' Operator: Dragos Tiberiu Vladu &#10;Technic: Adi&#10;&#10;Toate drepturile sunt rezervate. Orice upload neautorizat al acestui videoclip este ilegal si poate fi raportat oricand la Youtube. &#10;&#10;All rights reserved. Unauthorized reproduction is a violation of applicable laws. In order to avoid copyright infringement, please do not upload this video on your channel.&#10;&#10;(C) &amp; (P) Studio 66 Records 2023&#10;&#10;#Muzica" id="52" name="Google Shape;52;p3" title="@GeorgeHora ❌@PhaserOfficial - Armele Jos | Videoclip Oficial">
            <a:hlinkClick r:id="rId11"/>
          </p:cNvPr>
          <p:cNvPicPr preferRelativeResize="0"/>
          <p:nvPr/>
        </p:nvPicPr>
        <p:blipFill rotWithShape="1">
          <a:blip r:embed="rId12">
            <a:alphaModFix/>
          </a:blip>
          <a:srcRect b="0" l="0" r="0" t="0"/>
          <a:stretch/>
        </p:blipFill>
        <p:spPr>
          <a:xfrm>
            <a:off x="2119913" y="5178038"/>
            <a:ext cx="2447689" cy="1376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
                                        </p:tgtEl>
                                        <p:attrNameLst>
                                          <p:attrName>style.visibility</p:attrName>
                                        </p:attrNameLst>
                                      </p:cBhvr>
                                      <p:to>
                                        <p:strVal val="visible"/>
                                      </p:to>
                                    </p:set>
                                    <p:animEffect filter="fade" transition="in">
                                      <p:cBhvr>
                                        <p:cTn dur="1000"/>
                                        <p:tgtEl>
                                          <p:spTgt spid="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gtEl>
                                        <p:attrNameLst>
                                          <p:attrName>style.visibility</p:attrName>
                                        </p:attrNameLst>
                                      </p:cBhvr>
                                      <p:to>
                                        <p:strVal val="visible"/>
                                      </p:to>
                                    </p:set>
                                    <p:animEffect filter="fade" transition="in">
                                      <p:cBhvr>
                                        <p:cTn dur="1000"/>
                                        <p:tgtEl>
                                          <p:spTgt spid="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pic>
        <p:nvPicPr>
          <p:cNvPr descr="/var/www/render_temp/18035545/1485329847/78862/slide4.png" id="58" name="Google Shape;58;p4"/>
          <p:cNvPicPr preferRelativeResize="0"/>
          <p:nvPr/>
        </p:nvPicPr>
        <p:blipFill rotWithShape="1">
          <a:blip r:embed="rId3">
            <a:alphaModFix/>
          </a:blip>
          <a:srcRect b="0" l="0" r="0" t="0"/>
          <a:stretch/>
        </p:blipFill>
        <p:spPr>
          <a:xfrm>
            <a:off x="0" y="0"/>
            <a:ext cx="7772400" cy="10058400"/>
          </a:xfrm>
          <a:prstGeom prst="rect">
            <a:avLst/>
          </a:prstGeom>
          <a:noFill/>
          <a:ln>
            <a:noFill/>
          </a:ln>
        </p:spPr>
      </p:pic>
      <p:pic>
        <p:nvPicPr>
          <p:cNvPr descr="În prima gală din sezonul 4 de la &quot;X Factor&quot;, Carina Dumitru a cântat melodia interpretată de Gojira vs. Liviu Vasilica - ”Robot armasar attack”.&#10;&#10;Canalul oficial de youtube X Factor: http://www.youtube.com/thexfactora1&#10;Site-ul show-ului X Factor: http://xfactor.a1.ro/&#10;Pagina oficiala de Facebook a X Factor: https://www.facebook.com/xfactor.romania&#10;Show-ul X Factor in format video: http://antenaplay.ro/" id="59" name="Google Shape;59;p4" title="Carina Dumitru - Gojira vs. Liviu Vasilica - &quot;Robot armasar attack&quot; - X Factor">
            <a:hlinkClick r:id="rId4"/>
          </p:cNvPr>
          <p:cNvPicPr preferRelativeResize="0"/>
          <p:nvPr/>
        </p:nvPicPr>
        <p:blipFill rotWithShape="1">
          <a:blip r:embed="rId5">
            <a:alphaModFix/>
          </a:blip>
          <a:srcRect b="0" l="0" r="0" t="0"/>
          <a:stretch/>
        </p:blipFill>
        <p:spPr>
          <a:xfrm>
            <a:off x="2100425" y="5003725"/>
            <a:ext cx="2205200" cy="1653900"/>
          </a:xfrm>
          <a:prstGeom prst="rect">
            <a:avLst/>
          </a:prstGeom>
          <a:noFill/>
          <a:ln>
            <a:noFill/>
          </a:ln>
        </p:spPr>
      </p:pic>
      <p:pic>
        <p:nvPicPr>
          <p:cNvPr descr="#360live #cucastilenurechi #phaserlove &#10;&#10;🎶 Stream &quot;Cu caștile-n urechi&quot; - https://sptfy.com/r2k2~s&#10;🎧 Stream/Download Album: https://Phaser.lnk.to/InceputDeUnivers&#10;&#10;Phaser Online: &#10;Instagram: https://www.instagram.com/wearephaser&#10;Facebook: https://www.facebook.com/PhaserOfficial&#10;Twitter: https://twitter.com/phaserofficial&#10;&#10;Booking:  (+4) 0744 771 488&#10;Email: contact@phaser.ro&#10;&#10;(C) &amp; (P) MediaPro Music Entertainment 2019&#10;All rights reserved. Unauthorized reproduction is a violation of applicable laws&#10;In order to avoid copyright infringement, please, do not upload this song on your channel" id="60" name="Google Shape;60;p4" title="Phaser - Cu căștile-n urechi | Live 360°">
            <a:hlinkClick r:id="rId6"/>
          </p:cNvPr>
          <p:cNvPicPr preferRelativeResize="0"/>
          <p:nvPr/>
        </p:nvPicPr>
        <p:blipFill rotWithShape="1">
          <a:blip r:embed="rId7">
            <a:alphaModFix/>
          </a:blip>
          <a:srcRect b="0" l="0" r="0" t="0"/>
          <a:stretch/>
        </p:blipFill>
        <p:spPr>
          <a:xfrm>
            <a:off x="3487325" y="2949200"/>
            <a:ext cx="2205200" cy="1653900"/>
          </a:xfrm>
          <a:prstGeom prst="rect">
            <a:avLst/>
          </a:prstGeom>
          <a:noFill/>
          <a:ln>
            <a:noFill/>
          </a:ln>
        </p:spPr>
      </p:pic>
      <p:pic>
        <p:nvPicPr>
          <p:cNvPr descr="✅Best of ULive Session https://goo.gl/3PbfPb&#10;✅Top Romanian Music playlist https://digster.lnk.to/Romanian&#10;&#10;ULive Session, cel mai de anvergura proiect Live din Romania, uneste sub aceeasi platforma artisti de top ai casei de discuri Universal Music Romania. &#10;Cristina Balan, Les Elephants Bizarres, Fameless, Phaser, YellLow au pregatit versiuni Live pentru single-urile lansate, cover-uri si interpretari acustice, totul ambalat intr-un concept video alb-negru, curajos si incitant. &#10;&#10;Follow Phaser&#10;https://facebook.com/PhaserOfficial&#10;http://phaser.ro&#10;&#10;Original version: https://youtu.be/y6Z-xMxjM9I&#10;&#10;Phaser - Alerg (ULive Session)&#10;Regie: Iustin Andrei Surpanelu&#10;DOP: Sorin Florea&#10;Montaj video: Silviu Mindroc&#10;Sound: Five's&#10;Fotograf: Ana Maria Dinu &amp; Claudia Gadea&#10;Locatie: Qreator (https://www.facebook.com/qreatorbyiqos)&#10;&#10;&#10;Universal Music Romania is part of Universal Music Group, the world's largest music company. &#10;&#10;Social Media: &#10;https://facebook.com/umusicro/&#10;https://instagram.com/universalmusicromania/&#10;https://umusic.ro/" id="61" name="Google Shape;61;p4" title="Phaser - Alerg (ULive Session)">
            <a:hlinkClick r:id="rId8"/>
          </p:cNvPr>
          <p:cNvPicPr preferRelativeResize="0"/>
          <p:nvPr/>
        </p:nvPicPr>
        <p:blipFill rotWithShape="1">
          <a:blip r:embed="rId9">
            <a:alphaModFix/>
          </a:blip>
          <a:srcRect b="0" l="0" r="0" t="0"/>
          <a:stretch/>
        </p:blipFill>
        <p:spPr>
          <a:xfrm>
            <a:off x="3487330" y="7058250"/>
            <a:ext cx="2205200" cy="1653877"/>
          </a:xfrm>
          <a:prstGeom prst="rect">
            <a:avLst/>
          </a:prstGeom>
          <a:noFill/>
          <a:ln>
            <a:noFill/>
          </a:ln>
        </p:spPr>
      </p:pic>
      <p:pic>
        <p:nvPicPr>
          <p:cNvPr id="62" name="Google Shape;62;p4"/>
          <p:cNvPicPr preferRelativeResize="0"/>
          <p:nvPr/>
        </p:nvPicPr>
        <p:blipFill rotWithShape="1">
          <a:blip r:embed="rId10">
            <a:alphaModFix amt="88000"/>
          </a:blip>
          <a:srcRect b="0" l="0" r="0" t="0"/>
          <a:stretch/>
        </p:blipFill>
        <p:spPr>
          <a:xfrm>
            <a:off x="3035776" y="1368187"/>
            <a:ext cx="706875" cy="706875"/>
          </a:xfrm>
          <a:prstGeom prst="rect">
            <a:avLst/>
          </a:prstGeom>
          <a:noFill/>
          <a:ln>
            <a:noFill/>
          </a:ln>
        </p:spPr>
      </p:pic>
      <p:pic>
        <p:nvPicPr>
          <p:cNvPr id="63" name="Google Shape;63;p4"/>
          <p:cNvPicPr preferRelativeResize="0"/>
          <p:nvPr/>
        </p:nvPicPr>
        <p:blipFill rotWithShape="1">
          <a:blip r:embed="rId10">
            <a:alphaModFix amt="88000"/>
          </a:blip>
          <a:srcRect b="0" l="0" r="0" t="0"/>
          <a:stretch/>
        </p:blipFill>
        <p:spPr>
          <a:xfrm>
            <a:off x="4236476" y="3422712"/>
            <a:ext cx="706875" cy="706875"/>
          </a:xfrm>
          <a:prstGeom prst="rect">
            <a:avLst/>
          </a:prstGeom>
          <a:noFill/>
          <a:ln>
            <a:noFill/>
          </a:ln>
        </p:spPr>
      </p:pic>
      <p:pic>
        <p:nvPicPr>
          <p:cNvPr id="64" name="Google Shape;64;p4"/>
          <p:cNvPicPr preferRelativeResize="0"/>
          <p:nvPr/>
        </p:nvPicPr>
        <p:blipFill rotWithShape="1">
          <a:blip r:embed="rId10">
            <a:alphaModFix amt="88000"/>
          </a:blip>
          <a:srcRect b="0" l="0" r="0" t="0"/>
          <a:stretch/>
        </p:blipFill>
        <p:spPr>
          <a:xfrm>
            <a:off x="2849588" y="5477250"/>
            <a:ext cx="706875" cy="706875"/>
          </a:xfrm>
          <a:prstGeom prst="rect">
            <a:avLst/>
          </a:prstGeom>
          <a:noFill/>
          <a:ln>
            <a:noFill/>
          </a:ln>
        </p:spPr>
      </p:pic>
      <p:pic>
        <p:nvPicPr>
          <p:cNvPr id="65" name="Google Shape;65;p4"/>
          <p:cNvPicPr preferRelativeResize="0"/>
          <p:nvPr/>
        </p:nvPicPr>
        <p:blipFill rotWithShape="1">
          <a:blip r:embed="rId10">
            <a:alphaModFix amt="88000"/>
          </a:blip>
          <a:srcRect b="0" l="0" r="0" t="0"/>
          <a:stretch/>
        </p:blipFill>
        <p:spPr>
          <a:xfrm>
            <a:off x="4236476" y="7531775"/>
            <a:ext cx="706875" cy="706875"/>
          </a:xfrm>
          <a:prstGeom prst="rect">
            <a:avLst/>
          </a:prstGeom>
          <a:noFill/>
          <a:ln>
            <a:noFill/>
          </a:ln>
        </p:spPr>
      </p:pic>
      <p:sp>
        <p:nvSpPr>
          <p:cNvPr id="66" name="Google Shape;66;p4"/>
          <p:cNvSpPr txBox="1"/>
          <p:nvPr/>
        </p:nvSpPr>
        <p:spPr>
          <a:xfrm>
            <a:off x="464600" y="1536950"/>
            <a:ext cx="2385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200"/>
              <a:buFont typeface="Arial"/>
              <a:buNone/>
            </a:pPr>
            <a:r>
              <a:rPr b="0" i="0" lang="en-US" sz="1200" u="none" cap="none" strike="noStrike">
                <a:solidFill>
                  <a:schemeClr val="lt1"/>
                </a:solidFill>
                <a:latin typeface="Lato"/>
                <a:ea typeface="Lato"/>
                <a:cs typeface="Lato"/>
                <a:sym typeface="Lato"/>
              </a:rPr>
              <a:t>Concert Journal </a:t>
            </a:r>
            <a:endParaRPr b="0" i="0" sz="1200" u="none" cap="none" strike="noStrike">
              <a:solidFill>
                <a:schemeClr val="lt1"/>
              </a:solidFill>
              <a:latin typeface="Lato"/>
              <a:ea typeface="Lato"/>
              <a:cs typeface="Lato"/>
              <a:sym typeface="Lato"/>
            </a:endParaRPr>
          </a:p>
        </p:txBody>
      </p:sp>
      <p:sp>
        <p:nvSpPr>
          <p:cNvPr id="67" name="Google Shape;67;p4"/>
          <p:cNvSpPr txBox="1"/>
          <p:nvPr/>
        </p:nvSpPr>
        <p:spPr>
          <a:xfrm>
            <a:off x="5860600" y="3636700"/>
            <a:ext cx="2385000" cy="73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200"/>
              <a:buFont typeface="Arial"/>
              <a:buNone/>
            </a:pPr>
            <a:r>
              <a:rPr b="0" i="0" lang="en-US" sz="1200" u="none" cap="none" strike="noStrike">
                <a:solidFill>
                  <a:schemeClr val="lt1"/>
                </a:solidFill>
                <a:latin typeface="Lato"/>
                <a:ea typeface="Lato"/>
                <a:cs typeface="Lato"/>
                <a:sym typeface="Lato"/>
              </a:rPr>
              <a:t>Cu căștile-n urechi </a:t>
            </a:r>
            <a:endParaRPr b="0" i="0" sz="1200" u="none" cap="none" strike="noStrike">
              <a:solidFill>
                <a:schemeClr val="lt1"/>
              </a:solidFill>
              <a:latin typeface="Lato"/>
              <a:ea typeface="Lato"/>
              <a:cs typeface="Lato"/>
              <a:sym typeface="Lato"/>
            </a:endParaRPr>
          </a:p>
          <a:p>
            <a:pPr indent="0" lvl="0" marL="0" marR="0" rtl="0" algn="l">
              <a:lnSpc>
                <a:spcPct val="115000"/>
              </a:lnSpc>
              <a:spcBef>
                <a:spcPts val="1200"/>
              </a:spcBef>
              <a:spcAft>
                <a:spcPts val="1200"/>
              </a:spcAft>
              <a:buClr>
                <a:srgbClr val="000000"/>
              </a:buClr>
              <a:buSzPts val="1200"/>
              <a:buFont typeface="Arial"/>
              <a:buNone/>
            </a:pPr>
            <a:r>
              <a:t/>
            </a:r>
            <a:endParaRPr b="0" i="0" sz="1200" u="none" cap="none" strike="noStrike">
              <a:solidFill>
                <a:schemeClr val="lt1"/>
              </a:solidFill>
              <a:latin typeface="Lato"/>
              <a:ea typeface="Lato"/>
              <a:cs typeface="Lato"/>
              <a:sym typeface="Lato"/>
            </a:endParaRPr>
          </a:p>
        </p:txBody>
      </p:sp>
      <p:sp>
        <p:nvSpPr>
          <p:cNvPr id="68" name="Google Shape;68;p4"/>
          <p:cNvSpPr txBox="1"/>
          <p:nvPr/>
        </p:nvSpPr>
        <p:spPr>
          <a:xfrm>
            <a:off x="464600" y="5682900"/>
            <a:ext cx="2385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200"/>
              <a:buFont typeface="Arial"/>
              <a:buNone/>
            </a:pPr>
            <a:r>
              <a:rPr b="0" i="0" lang="en-US" sz="1200" u="none" cap="none" strike="noStrike">
                <a:solidFill>
                  <a:schemeClr val="lt1"/>
                </a:solidFill>
                <a:latin typeface="Lato"/>
                <a:ea typeface="Lato"/>
                <a:cs typeface="Lato"/>
                <a:sym typeface="Lato"/>
              </a:rPr>
              <a:t>Carina X factor</a:t>
            </a:r>
            <a:endParaRPr b="0" i="0" sz="1200" u="none" cap="none" strike="noStrike">
              <a:solidFill>
                <a:schemeClr val="lt1"/>
              </a:solidFill>
              <a:latin typeface="Lato"/>
              <a:ea typeface="Lato"/>
              <a:cs typeface="Lato"/>
              <a:sym typeface="Lato"/>
            </a:endParaRPr>
          </a:p>
        </p:txBody>
      </p:sp>
      <p:sp>
        <p:nvSpPr>
          <p:cNvPr id="69" name="Google Shape;69;p4"/>
          <p:cNvSpPr txBox="1"/>
          <p:nvPr/>
        </p:nvSpPr>
        <p:spPr>
          <a:xfrm>
            <a:off x="5860600" y="7869350"/>
            <a:ext cx="2385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200"/>
              <a:buFont typeface="Arial"/>
              <a:buNone/>
            </a:pPr>
            <a:r>
              <a:rPr b="0" i="0" lang="en-US" sz="1200" u="none" cap="none" strike="noStrike">
                <a:solidFill>
                  <a:schemeClr val="lt1"/>
                </a:solidFill>
                <a:latin typeface="Lato"/>
                <a:ea typeface="Lato"/>
                <a:cs typeface="Lato"/>
                <a:sym typeface="Lato"/>
              </a:rPr>
              <a:t>Alerg Ulive Sessions</a:t>
            </a:r>
            <a:endParaRPr b="0" i="0" sz="1200" u="none" cap="none" strike="noStrike">
              <a:solidFill>
                <a:schemeClr val="lt1"/>
              </a:solidFill>
              <a:latin typeface="Lato"/>
              <a:ea typeface="Lato"/>
              <a:cs typeface="Lato"/>
              <a:sym typeface="Lato"/>
            </a:endParaRPr>
          </a:p>
        </p:txBody>
      </p:sp>
      <p:pic>
        <p:nvPicPr>
          <p:cNvPr descr="Concert @ Lugoj&#10;&#10;Phaser Online: &#10;Instagram: https://www.instagram.com/wearephaser&#10;TikTok: https://www.tiktok.com/@wearephaser&#10;Facebook: https://www.facebook.com/PhaserOfficial&#10;Twitter: https://twitter.com/phaserofficial&#10;&#10;Booking:  (+4) 0744 771 488&#10;Email: contact@phaser.ro&#10;&#10;📹 https://www.instagram.com/victorilupu15/" id="70" name="Google Shape;70;p4" title="PHASER | Concert Journal #8">
            <a:hlinkClick r:id="rId11"/>
          </p:cNvPr>
          <p:cNvPicPr preferRelativeResize="0"/>
          <p:nvPr/>
        </p:nvPicPr>
        <p:blipFill rotWithShape="1">
          <a:blip r:embed="rId12">
            <a:alphaModFix/>
          </a:blip>
          <a:srcRect b="0" l="0" r="0" t="0"/>
          <a:stretch/>
        </p:blipFill>
        <p:spPr>
          <a:xfrm>
            <a:off x="2100425" y="996662"/>
            <a:ext cx="2577600" cy="1449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
                                        </p:tgtEl>
                                        <p:attrNameLst>
                                          <p:attrName>style.visibility</p:attrName>
                                        </p:attrNameLst>
                                      </p:cBhvr>
                                      <p:to>
                                        <p:strVal val="visible"/>
                                      </p:to>
                                    </p:set>
                                    <p:animEffect filter="fade" transition="in">
                                      <p:cBhvr>
                                        <p:cTn dur="1000"/>
                                        <p:tgtEl>
                                          <p:spTgt spid="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1000"/>
                                        <p:tgtEl>
                                          <p:spTgt spid="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2022-12-07T16:21:40Z</dcterms:created>
  <dc:creator>Visme User</dc:creator>
</cp:coreProperties>
</file>